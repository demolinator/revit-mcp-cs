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671810"/>
            <a:ext cx="8290661" cy="1828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800"/>
              </a:lnSpc>
              <a:spcAft>
                <a:spcPts val="1200"/>
              </a:spcAft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BUILDINGS</a:t>
            </a:r>
            <a:endParaRPr lang="en-US" sz="4000" dirty="0"/>
          </a:p>
          <a:p>
            <a:pPr algn="ctr" indent="0" marL="0">
              <a:lnSpc>
                <a:spcPts val="4800"/>
              </a:lnSpc>
              <a:spcAft>
                <a:spcPts val="1200"/>
              </a:spcAft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NATURAL LANGUAGE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174950" y="2728764"/>
            <a:ext cx="2793950" cy="38100"/>
          </a:xfrm>
          <a:prstGeom prst="roundRect">
            <a:avLst>
              <a:gd name="adj" fmla="val 66667"/>
            </a:avLst>
          </a:prstGeom>
          <a:solidFill>
            <a:srgbClr val="00D4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26669" y="2995464"/>
            <a:ext cx="82906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18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Claude Code/Cowork AI to Autodesk Revit 2026 via MCP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26669" y="3643164"/>
            <a:ext cx="829066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Talal Ahmed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26669" y="3989189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Mentored by Sir Zia Khan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6669" y="4290715"/>
            <a:ext cx="82906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Phone: 0346-2078906 | GitHub: github.com/Demolinator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55550"/>
            <a:ext cx="842030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3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Autodesk Revit?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44401" y="819001"/>
            <a:ext cx="8420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Industry Standard BIM Software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44401" y="1200001"/>
            <a:ext cx="8255198" cy="931813"/>
          </a:xfrm>
          <a:prstGeom prst="roundRect">
            <a:avLst>
              <a:gd name="adj" fmla="val 10904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1152" y="1346002"/>
            <a:ext cx="8018931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Autodesk Revit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world's leading BIM (Building Information Modeling) software used by architects, structural engineers, MEP engineers, and contractors to design, visualize, and deliver building projects.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44401" y="2258764"/>
            <a:ext cx="2650034" cy="1234083"/>
          </a:xfrm>
          <a:prstGeom prst="roundRect">
            <a:avLst>
              <a:gd name="adj" fmla="val 8233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1351" y="2385715"/>
            <a:ext cx="24440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1351" y="2630091"/>
            <a:ext cx="2444055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building layouts, walls, roofs, floors, doors, and windows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1351" y="2997994"/>
            <a:ext cx="2444055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3D visualizations and construction documents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46834" y="2258764"/>
            <a:ext cx="2650182" cy="1234083"/>
          </a:xfrm>
          <a:prstGeom prst="roundRect">
            <a:avLst>
              <a:gd name="adj" fmla="val 8233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73785" y="2385715"/>
            <a:ext cx="24442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73785" y="2630091"/>
            <a:ext cx="244420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foundations, beams, columns, and steel framing systems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73785" y="2997994"/>
            <a:ext cx="244420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 structural analysis and detailing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49417" y="2258764"/>
            <a:ext cx="2650182" cy="1234083"/>
          </a:xfrm>
          <a:prstGeom prst="roundRect">
            <a:avLst>
              <a:gd name="adj" fmla="val 8233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176367" y="2385715"/>
            <a:ext cx="24442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MEP Engineering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76367" y="2630091"/>
            <a:ext cx="244420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Mechanical, Electrical, and Plumbing systems design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76367" y="2997994"/>
            <a:ext cx="244420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HVAC ductwork, wiring, and pipe routing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4401" y="3619798"/>
            <a:ext cx="8255198" cy="526852"/>
          </a:xfrm>
          <a:prstGeom prst="roundRect">
            <a:avLst>
              <a:gd name="adj" fmla="val 14463"/>
            </a:avLst>
          </a:prstGeom>
          <a:solidFill>
            <a:srgbClr val="00D4FF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3104" y="3721298"/>
            <a:ext cx="805779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is the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tool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construction industry — used on projects from residential homes to skyscrapers worldwide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55550"/>
            <a:ext cx="842030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 vs CAD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44401" y="799951"/>
            <a:ext cx="84203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BIM Revolutionized the Construction Industry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44401" y="1126927"/>
            <a:ext cx="4051399" cy="2306092"/>
          </a:xfrm>
          <a:prstGeom prst="roundRect">
            <a:avLst>
              <a:gd name="adj" fmla="val 4406"/>
            </a:avLst>
          </a:prstGeom>
          <a:solidFill>
            <a:srgbClr val="FF5050">
              <a:alpha val="8000"/>
            </a:srgbClr>
          </a:solidFill>
          <a:ln w="19050">
            <a:solidFill>
              <a:srgbClr val="FF505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0401" y="1272927"/>
            <a:ext cx="383458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5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CAD (2D/3D Drawings)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0401" y="1549152"/>
            <a:ext cx="383458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lines and shapes</a:t>
            </a:r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intelligence behind the geometry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0401" y="1929705"/>
            <a:ext cx="383458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drawing is independent — change one, manually update all others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0401" y="2310259"/>
            <a:ext cx="383458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material data, cost info, or scheduling built 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0401" y="2525911"/>
            <a:ext cx="383458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work in silos — architects, engineers use separate files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0401" y="2906464"/>
            <a:ext cx="383458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found late during construction — expensive fixes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48200" y="1126927"/>
            <a:ext cx="4051399" cy="2306092"/>
          </a:xfrm>
          <a:prstGeom prst="roundRect">
            <a:avLst>
              <a:gd name="adj" fmla="val 4406"/>
            </a:avLst>
          </a:prstGeom>
          <a:solidFill>
            <a:srgbClr val="00D4FF">
              <a:alpha val="8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794200" y="1272927"/>
            <a:ext cx="383458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 (Intelligent 3D Model)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94200" y="1549152"/>
            <a:ext cx="383458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objects</a:t>
            </a:r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wall knows its height, material, cost, fire rating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94200" y="1929705"/>
            <a:ext cx="383458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truth — change once, updates everywhere automatically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94200" y="2310259"/>
            <a:ext cx="383458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data: quantities, costs (5D), scheduling (4D), sustainability (6D)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94200" y="2690813"/>
            <a:ext cx="383458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teams collaborate on ONE shared model in real-time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94200" y="2906464"/>
            <a:ext cx="383458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 detection catches conflicts BEFORE construction begins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4401" y="3559969"/>
            <a:ext cx="8255198" cy="802630"/>
          </a:xfrm>
          <a:prstGeom prst="roundRect">
            <a:avLst>
              <a:gd name="adj" fmla="val 12658"/>
            </a:avLst>
          </a:prstGeom>
          <a:solidFill>
            <a:srgbClr val="00D4FF">
              <a:alpha val="12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1152" y="3680520"/>
            <a:ext cx="80189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BIM Changed Everything: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152" y="3912245"/>
            <a:ext cx="8018931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 reduced construction errors by up to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cut project timelines by 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20-30%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enabled teams across the world to collaborate on a single intelligent model instead of exchanging disconnected drawings.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44401" y="4464100"/>
            <a:ext cx="1987600" cy="597991"/>
          </a:xfrm>
          <a:prstGeom prst="roundRect">
            <a:avLst>
              <a:gd name="adj" fmla="val 12743"/>
            </a:avLst>
          </a:prstGeom>
          <a:solidFill>
            <a:srgbClr val="FFFFFF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28056" y="4540300"/>
            <a:ext cx="182029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4D — Time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8056" y="4688830"/>
            <a:ext cx="1820290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scheduling linked to model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3501" y="4464100"/>
            <a:ext cx="1987748" cy="597991"/>
          </a:xfrm>
          <a:prstGeom prst="roundRect">
            <a:avLst>
              <a:gd name="adj" fmla="val 12743"/>
            </a:avLst>
          </a:prstGeom>
          <a:solidFill>
            <a:srgbClr val="FFFFFF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617154" y="4540300"/>
            <a:ext cx="182044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5D — Cost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17154" y="4688830"/>
            <a:ext cx="1820442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cost estimation from quantities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22750" y="4464100"/>
            <a:ext cx="1987600" cy="597991"/>
          </a:xfrm>
          <a:prstGeom prst="roundRect">
            <a:avLst>
              <a:gd name="adj" fmla="val 12743"/>
            </a:avLst>
          </a:prstGeom>
          <a:solidFill>
            <a:srgbClr val="FFFFFF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06405" y="4540300"/>
            <a:ext cx="182029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6D — Sustainability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6405" y="4688830"/>
            <a:ext cx="1820290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analysis and green building design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11851" y="4464100"/>
            <a:ext cx="1987748" cy="597991"/>
          </a:xfrm>
          <a:prstGeom prst="roundRect">
            <a:avLst>
              <a:gd name="adj" fmla="val 12743"/>
            </a:avLst>
          </a:prstGeom>
          <a:solidFill>
            <a:srgbClr val="FFFFFF">
              <a:alpha val="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795504" y="4540300"/>
            <a:ext cx="182044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7D — Operations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795504" y="4688830"/>
            <a:ext cx="1820442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management and maintenance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81000"/>
            <a:ext cx="842030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BIM?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44401" y="895350"/>
            <a:ext cx="842030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Information Model, Modelling, and Management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4401" y="1285875"/>
            <a:ext cx="8255198" cy="804863"/>
          </a:xfrm>
          <a:prstGeom prst="roundRect">
            <a:avLst>
              <a:gd name="adj" fmla="val 15779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88493" y="1457325"/>
            <a:ext cx="7967014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 is a 3D model-based process that connects </a:t>
            </a:r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stakeholders</a:t>
            </a:r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architects, engineers, contractors, and clients — through a </a:t>
            </a:r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intelligent digital model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4401" y="2243138"/>
            <a:ext cx="2667000" cy="1728043"/>
          </a:xfrm>
          <a:prstGeom prst="roundRect">
            <a:avLst>
              <a:gd name="adj" fmla="val 5880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2395538"/>
            <a:ext cx="2409444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(the 3D Model)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6801" y="2627858"/>
            <a:ext cx="2409444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representation of a building's physical and functional characteristics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6801" y="3223320"/>
            <a:ext cx="2409444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Contains geometry, spatial data, materials, quantities, and properties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38351" y="2243138"/>
            <a:ext cx="2667149" cy="1728043"/>
          </a:xfrm>
          <a:prstGeom prst="roundRect">
            <a:avLst>
              <a:gd name="adj" fmla="val 5880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90751" y="2395538"/>
            <a:ext cx="2409596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Modelling (the Process)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90751" y="2627858"/>
            <a:ext cx="2409596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process of creating the intelligent model across all project phases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90751" y="3223320"/>
            <a:ext cx="2409596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→ Construction → Operations lifecycle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32450" y="2243138"/>
            <a:ext cx="2667149" cy="1728043"/>
          </a:xfrm>
          <a:prstGeom prst="roundRect">
            <a:avLst>
              <a:gd name="adj" fmla="val 5880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184850" y="2395538"/>
            <a:ext cx="2409596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84850" y="2627858"/>
            <a:ext cx="2409596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the shared model to coordinate teams and manage the entire building lifecycle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84850" y="3223320"/>
            <a:ext cx="2409596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 detection, cost tracking, scheduling, facility management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4401" y="4098131"/>
            <a:ext cx="84203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Stakeholders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4401" y="4355306"/>
            <a:ext cx="1987600" cy="551855"/>
          </a:xfrm>
          <a:prstGeom prst="roundRect">
            <a:avLst>
              <a:gd name="adj" fmla="val 13808"/>
            </a:avLst>
          </a:prstGeom>
          <a:solidFill>
            <a:srgbClr val="00D4FF">
              <a:alpha val="8000"/>
            </a:srgbClr>
          </a:solidFill>
          <a:ln w="9525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37771" y="4466332"/>
            <a:ext cx="180085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37771" y="4631234"/>
            <a:ext cx="180085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intent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33501" y="4355306"/>
            <a:ext cx="1987748" cy="551855"/>
          </a:xfrm>
          <a:prstGeom prst="roundRect">
            <a:avLst>
              <a:gd name="adj" fmla="val 13808"/>
            </a:avLst>
          </a:prstGeom>
          <a:solidFill>
            <a:srgbClr val="00D4FF">
              <a:alpha val="8000"/>
            </a:srgbClr>
          </a:solidFill>
          <a:ln w="9525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626870" y="4466332"/>
            <a:ext cx="180101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26870" y="4631234"/>
            <a:ext cx="180101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and MEP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22750" y="4355306"/>
            <a:ext cx="1987600" cy="551855"/>
          </a:xfrm>
          <a:prstGeom prst="roundRect">
            <a:avLst>
              <a:gd name="adj" fmla="val 13808"/>
            </a:avLst>
          </a:prstGeom>
          <a:solidFill>
            <a:srgbClr val="00D4FF">
              <a:alpha val="8000"/>
            </a:srgbClr>
          </a:solidFill>
          <a:ln w="9525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716121" y="4466332"/>
            <a:ext cx="180085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16121" y="4631234"/>
            <a:ext cx="180085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Quantities and scheduling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711851" y="4355306"/>
            <a:ext cx="1987748" cy="551855"/>
          </a:xfrm>
          <a:prstGeom prst="roundRect">
            <a:avLst>
              <a:gd name="adj" fmla="val 13808"/>
            </a:avLst>
          </a:prstGeom>
          <a:solidFill>
            <a:srgbClr val="00D4FF">
              <a:alpha val="8000"/>
            </a:srgbClr>
          </a:solidFill>
          <a:ln w="9525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05220" y="4466332"/>
            <a:ext cx="180101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805220" y="4631234"/>
            <a:ext cx="180101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 and cost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55550"/>
            <a:ext cx="842030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3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Modeling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44401" y="819001"/>
            <a:ext cx="8420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Powers BIM Software Like Revit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44401" y="1174552"/>
            <a:ext cx="4057799" cy="3613398"/>
          </a:xfrm>
          <a:prstGeom prst="roundRect">
            <a:avLst>
              <a:gd name="adj" fmla="val 3515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15851" y="1346002"/>
            <a:ext cx="37891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Parametric Modeling?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5851" y="1599902"/>
            <a:ext cx="3789197" cy="659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drawing fixed geometry, you define </a:t>
            </a:r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and relationships</a:t>
            </a:r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between elements. Parameters and constraints drive the geometry. Change one thing and related elements update automatically.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5851" y="2335709"/>
            <a:ext cx="37891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It's Critical for BIM: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5851" y="2589609"/>
            <a:ext cx="378919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Coordination</a:t>
            </a:r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Move a wall, doors, windows, and dimensions update instantly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851" y="2995613"/>
            <a:ext cx="378919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Iteration</a:t>
            </a:r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Explore design options without manual redrafting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851" y="3401616"/>
            <a:ext cx="378919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 Accuracy</a:t>
            </a:r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Quantities, costs, schedules always correct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9900" y="1174552"/>
            <a:ext cx="4019699" cy="3613398"/>
          </a:xfrm>
          <a:prstGeom prst="roundRect">
            <a:avLst>
              <a:gd name="adj" fmla="val 3515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32300" y="1326952"/>
            <a:ext cx="37891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in Revit: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32300" y="1580852"/>
            <a:ext cx="378919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a wall's 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3000mm to 3500mm: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32300" y="1809155"/>
            <a:ext cx="378919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All windows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that wall adjust position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32300" y="2037457"/>
            <a:ext cx="378919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All dimensions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update to show 3500mm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32300" y="2265759"/>
            <a:ext cx="378919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All schedules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recalculate automatically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32300" y="2494062"/>
            <a:ext cx="378919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Room areas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volumes update in all views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32300" y="2722364"/>
            <a:ext cx="37891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Matters: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2300" y="2976265"/>
            <a:ext cx="3789197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modeling makes BIM 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every element knows its relationship to others, enabling accurate coordination across the entire project.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81000"/>
            <a:ext cx="842030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3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44401" y="857250"/>
            <a:ext cx="8420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44401" y="1263551"/>
            <a:ext cx="2650034" cy="1338263"/>
          </a:xfrm>
          <a:prstGeom prst="roundRect">
            <a:avLst>
              <a:gd name="adj" fmla="val 7592"/>
            </a:avLst>
          </a:prstGeom>
          <a:solidFill>
            <a:srgbClr val="00D4FF">
              <a:alpha val="8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18586" y="1460302"/>
            <a:ext cx="230166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Industry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8586" y="1860352"/>
            <a:ext cx="2301663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and design is Pakistan's biggest industry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46834" y="1263551"/>
            <a:ext cx="2650182" cy="1338263"/>
          </a:xfrm>
          <a:prstGeom prst="roundRect">
            <a:avLst>
              <a:gd name="adj" fmla="val 7592"/>
            </a:avLst>
          </a:prstGeom>
          <a:solidFill>
            <a:srgbClr val="00D4FF">
              <a:alpha val="8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21018" y="1460302"/>
            <a:ext cx="230181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Tool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21018" y="1860352"/>
            <a:ext cx="2301814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Autodesk Revit is the most used BIM tool by architects worldwide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49417" y="1263551"/>
            <a:ext cx="2650182" cy="1338263"/>
          </a:xfrm>
          <a:prstGeom prst="roundRect">
            <a:avLst>
              <a:gd name="adj" fmla="val 7592"/>
            </a:avLst>
          </a:prstGeom>
          <a:solidFill>
            <a:srgbClr val="00D4FF">
              <a:alpha val="8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23601" y="1460302"/>
            <a:ext cx="230181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2-5 Years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23601" y="1860352"/>
            <a:ext cx="2301814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training time to master Revit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4401" y="2779514"/>
            <a:ext cx="8255198" cy="1135261"/>
          </a:xfrm>
          <a:prstGeom prst="roundRect">
            <a:avLst>
              <a:gd name="adj" fmla="val 11187"/>
            </a:avLst>
          </a:prstGeom>
          <a:solidFill>
            <a:srgbClr val="00D4FF">
              <a:alpha val="15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2176" y="3027164"/>
            <a:ext cx="7759648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anyone could design buildings just by describing them in plain English?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44401"/>
            <a:ext cx="8290661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7950" y="1012627"/>
            <a:ext cx="829066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Building Design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1854398"/>
            <a:ext cx="2355652" cy="1460302"/>
          </a:xfrm>
          <a:prstGeom prst="roundRect">
            <a:avLst>
              <a:gd name="adj" fmla="val 8697"/>
            </a:avLst>
          </a:prstGeom>
          <a:solidFill>
            <a:srgbClr val="00D4FF">
              <a:alpha val="12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080" y="2076599"/>
            <a:ext cx="200139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85080" y="2521000"/>
            <a:ext cx="200139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Claude Code/Cowork in plain English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90552" y="2394049"/>
            <a:ext cx="28220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394174" y="1854398"/>
            <a:ext cx="2355652" cy="1460302"/>
          </a:xfrm>
          <a:prstGeom prst="roundRect">
            <a:avLst>
              <a:gd name="adj" fmla="val 8697"/>
            </a:avLst>
          </a:prstGeom>
          <a:solidFill>
            <a:srgbClr val="00D4FF">
              <a:alpha val="12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71304" y="2076599"/>
            <a:ext cx="200139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571304" y="2521000"/>
            <a:ext cx="200139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sends commands to Revit via MCP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876776" y="2394049"/>
            <a:ext cx="28220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80398" y="1854398"/>
            <a:ext cx="2355652" cy="1460302"/>
          </a:xfrm>
          <a:prstGeom prst="roundRect">
            <a:avLst>
              <a:gd name="adj" fmla="val 8697"/>
            </a:avLst>
          </a:prstGeom>
          <a:solidFill>
            <a:srgbClr val="00D4FF">
              <a:alpha val="12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57527" y="2076599"/>
            <a:ext cx="200139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57527" y="2521000"/>
            <a:ext cx="200139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Walls, floors, grids, beams created in seconds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7950" y="3695551"/>
            <a:ext cx="2607766" cy="736402"/>
          </a:xfrm>
          <a:prstGeom prst="roundRect">
            <a:avLst>
              <a:gd name="adj" fmla="val 13797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3128" y="3873252"/>
            <a:ext cx="22974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3128" y="4063752"/>
            <a:ext cx="22974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data instantly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68117" y="3695551"/>
            <a:ext cx="2607766" cy="736402"/>
          </a:xfrm>
          <a:prstGeom prst="roundRect">
            <a:avLst>
              <a:gd name="adj" fmla="val 13797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423294" y="3873252"/>
            <a:ext cx="22974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23294" y="4063752"/>
            <a:ext cx="22974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 automatically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28283" y="3695551"/>
            <a:ext cx="2607766" cy="736402"/>
          </a:xfrm>
          <a:prstGeom prst="roundRect">
            <a:avLst>
              <a:gd name="adj" fmla="val 13797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83460" y="3873252"/>
            <a:ext cx="22974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83460" y="4063752"/>
            <a:ext cx="22974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on demand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55550"/>
            <a:ext cx="842030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3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MCP?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44401" y="819001"/>
            <a:ext cx="8420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 — The USB Port for AI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44401" y="1174552"/>
            <a:ext cx="4038749" cy="1091357"/>
          </a:xfrm>
          <a:prstGeom prst="roundRect">
            <a:avLst>
              <a:gd name="adj" fmla="val 9310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0401" y="1320552"/>
            <a:ext cx="38216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Standard by Anthropic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0401" y="1574453"/>
            <a:ext cx="3821683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standardizes how AI applications connect to external systems. It enables secure, two-way connections between AI models like Claude and external tools.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4401" y="2392859"/>
            <a:ext cx="4038749" cy="1585913"/>
          </a:xfrm>
          <a:prstGeom prst="roundRect">
            <a:avLst>
              <a:gd name="adj" fmla="val 6406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1351" y="2519809"/>
            <a:ext cx="386054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USB Analogy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1351" y="2773710"/>
            <a:ext cx="3860545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as 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lets you plug any device into your computer, 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lets Claude plug in to any software tool.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1351" y="3166914"/>
            <a:ext cx="3860545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protocol for all tools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1351" y="3395216"/>
            <a:ext cx="3860545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Hot-Pluggable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Add/remove tools dynamically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71351" y="3623518"/>
            <a:ext cx="3860545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custom integrations needed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60850" y="2112020"/>
            <a:ext cx="4038749" cy="1738313"/>
          </a:xfrm>
          <a:prstGeom prst="roundRect">
            <a:avLst>
              <a:gd name="adj" fmla="val 5845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06851" y="2258020"/>
            <a:ext cx="38216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for Revit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6851" y="2511921"/>
            <a:ext cx="3821683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MCP server sits between Claude Code/Cowork and Revit, translating natural language into actual Revit API commands.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6851" y="3057376"/>
            <a:ext cx="38216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Discovery</a:t>
            </a:r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Claude finds available Revit operations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06851" y="3273028"/>
            <a:ext cx="38216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</a:t>
            </a:r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Query data AND create elements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06851" y="3488680"/>
            <a:ext cx="38216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pPr algn="l"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Commands execute instantly in Revit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81000"/>
            <a:ext cx="842030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44401" y="895350"/>
            <a:ext cx="842030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Claude Code/Cowork Talks to Revit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4401" y="1336625"/>
            <a:ext cx="1644997" cy="1031677"/>
          </a:xfrm>
          <a:prstGeom prst="roundRect">
            <a:avLst>
              <a:gd name="adj" fmla="val 9848"/>
            </a:avLst>
          </a:prstGeom>
          <a:solidFill>
            <a:srgbClr val="00D4FF">
              <a:alpha val="12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50913" y="1533376"/>
            <a:ext cx="14319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Code/Cowork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50913" y="2028676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Interface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65598" y="1585764"/>
            <a:ext cx="574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51187" y="1852464"/>
            <a:ext cx="1953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804666" y="1336625"/>
            <a:ext cx="948779" cy="1031677"/>
          </a:xfrm>
          <a:prstGeom prst="roundRect">
            <a:avLst>
              <a:gd name="adj" fmla="val 10709"/>
            </a:avLst>
          </a:prstGeom>
          <a:solidFill>
            <a:srgbClr val="00D4FF">
              <a:alpha val="12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918140" y="1533376"/>
            <a:ext cx="7218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918140" y="2028676"/>
            <a:ext cx="721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29645" y="1452414"/>
            <a:ext cx="132191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 :8080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81798" y="1985814"/>
            <a:ext cx="1953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01841" y="1336625"/>
            <a:ext cx="918865" cy="1031677"/>
          </a:xfrm>
          <a:prstGeom prst="roundRect">
            <a:avLst>
              <a:gd name="adj" fmla="val 11057"/>
            </a:avLst>
          </a:prstGeom>
          <a:solidFill>
            <a:srgbClr val="00D4FF">
              <a:alpha val="12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315614" y="1533376"/>
            <a:ext cx="691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Plugin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315614" y="2028676"/>
            <a:ext cx="6913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Add-In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96905" y="1452414"/>
            <a:ext cx="119819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API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88485" y="1985814"/>
            <a:ext cx="1953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47806" y="1336625"/>
            <a:ext cx="1251793" cy="1031677"/>
          </a:xfrm>
          <a:prstGeom prst="roundRect">
            <a:avLst>
              <a:gd name="adj" fmla="val 9848"/>
            </a:avLst>
          </a:prstGeom>
          <a:solidFill>
            <a:srgbClr val="00D4FF">
              <a:alpha val="12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558250" y="1533376"/>
            <a:ext cx="10309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Autodesk Revit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558250" y="2028676"/>
            <a:ext cx="1030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 Platform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07296" y="2495252"/>
            <a:ext cx="1929259" cy="288727"/>
          </a:xfrm>
          <a:prstGeom prst="roundRect">
            <a:avLst>
              <a:gd name="adj" fmla="val 17594"/>
            </a:avLst>
          </a:prstGeom>
          <a:solidFill>
            <a:srgbClr val="FFFFFF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717493" y="2558653"/>
            <a:ext cx="17088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Running on Windows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4401" y="2936379"/>
            <a:ext cx="1987600" cy="1015603"/>
          </a:xfrm>
          <a:prstGeom prst="roundRect">
            <a:avLst>
              <a:gd name="adj" fmla="val 10004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44401" y="2945904"/>
            <a:ext cx="1987600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351" y="3082379"/>
            <a:ext cx="176837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User Input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71351" y="3230910"/>
            <a:ext cx="176837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you want in natural language using Claude Code/Cowork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3501" y="2936379"/>
            <a:ext cx="1987748" cy="1015603"/>
          </a:xfrm>
          <a:prstGeom prst="roundRect">
            <a:avLst>
              <a:gd name="adj" fmla="val 10004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2533501" y="2945904"/>
            <a:ext cx="1987748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60452" y="3082379"/>
            <a:ext cx="1768525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MCP Translation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660452" y="3230910"/>
            <a:ext cx="1768525" cy="594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MCP plugin converts your request into structured Revit commands via Model Context Protocol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22750" y="2936379"/>
            <a:ext cx="1987600" cy="1015603"/>
          </a:xfrm>
          <a:prstGeom prst="roundRect">
            <a:avLst>
              <a:gd name="adj" fmla="val 10004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4622750" y="2945904"/>
            <a:ext cx="1987600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49701" y="3082379"/>
            <a:ext cx="176837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Command Relay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49701" y="3230910"/>
            <a:ext cx="1768373" cy="594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Commands are sent to the Revit plugin over TCP, bridging AI to the BIM application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711851" y="2936379"/>
            <a:ext cx="1987748" cy="1015603"/>
          </a:xfrm>
          <a:prstGeom prst="roundRect">
            <a:avLst>
              <a:gd name="adj" fmla="val 10004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711851" y="2945904"/>
            <a:ext cx="1987748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38801" y="3082379"/>
            <a:ext cx="1768525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BIM Execution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38801" y="3230910"/>
            <a:ext cx="1768525" cy="594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C# plugin marshals commands to Revit's UI thread via ExternalEvent and creates BIM elements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44401"/>
            <a:ext cx="8290661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3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Tools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7950" y="987326"/>
            <a:ext cx="82906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Commands for Complete BIM Control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7950" y="1507927"/>
            <a:ext cx="3937099" cy="3191173"/>
          </a:xfrm>
          <a:prstGeom prst="roundRect">
            <a:avLst>
              <a:gd name="adj" fmla="val 4776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55600" y="1755577"/>
            <a:ext cx="2315170" cy="282476"/>
          </a:xfrm>
          <a:prstGeom prst="roundRect">
            <a:avLst>
              <a:gd name="adj" fmla="val 71935"/>
            </a:avLst>
          </a:prstGeom>
          <a:solidFill>
            <a:srgbClr val="00D4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08000" y="1806327"/>
            <a:ext cx="20505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— 6 Commands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5600" y="2165003"/>
            <a:ext cx="35106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ELEMENTS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55600" y="2584103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Walls — Straight and curved walls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55600" y="2876104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Floors — Floor slabs and finishes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55600" y="3168104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 — Column grids and levels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5600" y="3460105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Beams — Structural framing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5600" y="3752106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Dimensions — Automatic dimensioning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5600" y="4044107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Elements — Columns, fixtures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98950" y="1507927"/>
            <a:ext cx="3937099" cy="3191173"/>
          </a:xfrm>
          <a:prstGeom prst="roundRect">
            <a:avLst>
              <a:gd name="adj" fmla="val 4776"/>
            </a:avLst>
          </a:prstGeom>
          <a:solidFill>
            <a:srgbClr val="FFFFFF">
              <a:alpha val="5000"/>
            </a:srgbClr>
          </a:solidFill>
          <a:ln w="19050">
            <a:solidFill>
              <a:srgbClr val="B0B0B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46600" y="1755577"/>
            <a:ext cx="2350591" cy="282476"/>
          </a:xfrm>
          <a:prstGeom prst="roundRect">
            <a:avLst>
              <a:gd name="adj" fmla="val 71935"/>
            </a:avLst>
          </a:prstGeom>
          <a:solidFill>
            <a:srgbClr val="00D4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099000" y="1806327"/>
            <a:ext cx="20867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— 13 Commands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46600" y="2165003"/>
            <a:ext cx="35106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AND EXPORT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46600" y="2584103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Info — Active viewport data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46600" y="2876104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Types — Available components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46600" y="3168104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Elements — Current selection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46600" y="3460105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Data — Areas and volumes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46600" y="3752106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Quantities — Takeoff data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46600" y="4044107"/>
            <a:ext cx="351063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Statistics — Element counts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55550"/>
            <a:ext cx="842030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in Action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44401" y="799951"/>
            <a:ext cx="84203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Say to Claude Code/Cowork vs What Revit Does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44401" y="1126927"/>
            <a:ext cx="4663083" cy="775692"/>
          </a:xfrm>
          <a:prstGeom prst="roundRect">
            <a:avLst>
              <a:gd name="adj" fmla="val 13098"/>
            </a:avLst>
          </a:prstGeom>
          <a:solidFill>
            <a:srgbClr val="0D1117"/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0401" y="1247477"/>
            <a:ext cx="44585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SAY: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0401" y="1418927"/>
            <a:ext cx="4458504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 a 10m x 8m rectangular room with 3 meter high walls"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234434" y="1126927"/>
            <a:ext cx="17366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531644" y="1126927"/>
            <a:ext cx="3167955" cy="775692"/>
          </a:xfrm>
          <a:prstGeom prst="roundRect">
            <a:avLst>
              <a:gd name="adj" fmla="val 13098"/>
            </a:avLst>
          </a:prstGeom>
          <a:solidFill>
            <a:srgbClr val="00D4FF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58594" y="1349871"/>
            <a:ext cx="297233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creates: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walls forming a 10x8m enclosure at 3m height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4401" y="2004120"/>
            <a:ext cx="4663083" cy="775692"/>
          </a:xfrm>
          <a:prstGeom prst="roundRect">
            <a:avLst>
              <a:gd name="adj" fmla="val 13098"/>
            </a:avLst>
          </a:prstGeom>
          <a:solidFill>
            <a:srgbClr val="0D1117"/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0401" y="2124670"/>
            <a:ext cx="44585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SAY: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0401" y="2296120"/>
            <a:ext cx="4458504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"Add a grid system with 6 meter spacing, 3 bays in each direction"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34434" y="2004120"/>
            <a:ext cx="17366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1644" y="2004120"/>
            <a:ext cx="3167955" cy="775692"/>
          </a:xfrm>
          <a:prstGeom prst="roundRect">
            <a:avLst>
              <a:gd name="adj" fmla="val 13098"/>
            </a:avLst>
          </a:prstGeom>
          <a:solidFill>
            <a:srgbClr val="00D4FF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58594" y="2227064"/>
            <a:ext cx="297233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creates: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4x4 grid lines with 6m spacing and labels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4401" y="2881313"/>
            <a:ext cx="4663083" cy="775692"/>
          </a:xfrm>
          <a:prstGeom prst="roundRect">
            <a:avLst>
              <a:gd name="adj" fmla="val 13098"/>
            </a:avLst>
          </a:prstGeom>
          <a:solidFill>
            <a:srgbClr val="0D1117"/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0401" y="3001863"/>
            <a:ext cx="44585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SAY: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0401" y="3173313"/>
            <a:ext cx="4458504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"What are the total floor areas and wall quantities in this model?"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234434" y="2881313"/>
            <a:ext cx="17366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531644" y="2881313"/>
            <a:ext cx="3167955" cy="775692"/>
          </a:xfrm>
          <a:prstGeom prst="roundRect">
            <a:avLst>
              <a:gd name="adj" fmla="val 13098"/>
            </a:avLst>
          </a:prstGeom>
          <a:solidFill>
            <a:srgbClr val="00D4FF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658594" y="3104257"/>
            <a:ext cx="297233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returns: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Floor areas, wall counts, material quantities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4401" y="3758505"/>
            <a:ext cx="4663083" cy="775692"/>
          </a:xfrm>
          <a:prstGeom prst="roundRect">
            <a:avLst>
              <a:gd name="adj" fmla="val 13098"/>
            </a:avLst>
          </a:prstGeom>
          <a:solidFill>
            <a:srgbClr val="0D1117"/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90401" y="3879056"/>
            <a:ext cx="44585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SAY: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0401" y="4050506"/>
            <a:ext cx="4458504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"Place steel beams along all grid intersections at level 2"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34434" y="3758505"/>
            <a:ext cx="173665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31644" y="3758505"/>
            <a:ext cx="3167955" cy="775692"/>
          </a:xfrm>
          <a:prstGeom prst="roundRect">
            <a:avLst>
              <a:gd name="adj" fmla="val 13098"/>
            </a:avLst>
          </a:prstGeom>
          <a:solidFill>
            <a:srgbClr val="00D4FF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658594" y="3981450"/>
            <a:ext cx="2972336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Revit creates: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Structural steel beams at every grid crossing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44401" y="4635698"/>
            <a:ext cx="8255198" cy="403027"/>
          </a:xfrm>
          <a:prstGeom prst="roundRect">
            <a:avLst>
              <a:gd name="adj" fmla="val 25209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62535" y="4756249"/>
            <a:ext cx="80189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Revit training needed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describe what you want in plain English, Claude handles the rest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55550"/>
            <a:ext cx="842030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3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44401" y="819001"/>
            <a:ext cx="8420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Built: The Prism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44401" y="1174552"/>
            <a:ext cx="8255198" cy="787301"/>
          </a:xfrm>
          <a:prstGeom prst="roundRect">
            <a:avLst>
              <a:gd name="adj" fmla="val 16131"/>
            </a:avLst>
          </a:prstGeom>
          <a:solidFill>
            <a:srgbClr val="00D4FF">
              <a:alpha val="15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0259" y="1320552"/>
            <a:ext cx="786348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PRISM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259" y="1653927"/>
            <a:ext cx="78634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3-Story Neo-Futuristic Building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4401" y="2088803"/>
            <a:ext cx="2683966" cy="526852"/>
          </a:xfrm>
          <a:prstGeom prst="roundRect">
            <a:avLst>
              <a:gd name="adj" fmla="val 14463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1351" y="2190304"/>
            <a:ext cx="24786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Curtain Wall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Full facade glazing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29868" y="2088803"/>
            <a:ext cx="2684115" cy="526852"/>
          </a:xfrm>
          <a:prstGeom prst="roundRect">
            <a:avLst>
              <a:gd name="adj" fmla="val 14463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356818" y="2190304"/>
            <a:ext cx="24788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Cantilevered 2nd Floor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Dramatic overhang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15484" y="2088803"/>
            <a:ext cx="2684115" cy="526852"/>
          </a:xfrm>
          <a:prstGeom prst="roundRect">
            <a:avLst>
              <a:gd name="adj" fmla="val 14463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42434" y="2190304"/>
            <a:ext cx="24788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Sky Terrace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3rd floor outdoor space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4401" y="2717155"/>
            <a:ext cx="2683966" cy="526852"/>
          </a:xfrm>
          <a:prstGeom prst="roundRect">
            <a:avLst>
              <a:gd name="adj" fmla="val 14463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71351" y="2818656"/>
            <a:ext cx="24786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Steel Beam Framing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Structural systems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29868" y="2717155"/>
            <a:ext cx="2684115" cy="526852"/>
          </a:xfrm>
          <a:prstGeom prst="roundRect">
            <a:avLst>
              <a:gd name="adj" fmla="val 14463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56818" y="2818656"/>
            <a:ext cx="247881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System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6x6m column layout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15484" y="2717155"/>
            <a:ext cx="2684115" cy="526852"/>
          </a:xfrm>
          <a:prstGeom prst="roundRect">
            <a:avLst>
              <a:gd name="adj" fmla="val 14463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142434" y="2818656"/>
            <a:ext cx="24788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Slabs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150mm concrete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1849" y="3345507"/>
            <a:ext cx="84203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created through natural language in under 5 minutes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266700"/>
            <a:ext cx="8420302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Twins and IoT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44401" y="711101"/>
            <a:ext cx="84203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Smart Building Management</a:t>
            </a:r>
            <a:endParaRPr lang="en-US" sz="1300" dirty="0"/>
          </a:p>
        </p:txBody>
      </p:sp>
      <p:pic>
        <p:nvPicPr>
          <p:cNvPr id="4" name="Image 0" descr="/mnt/d/Talal/Work/CLAUDE/Revit-MCP/presentation/digital-twin/Integration-of-Digital-Twins-IoT-and-AI-for-Smart-Building-Management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401" y="977801"/>
            <a:ext cx="4314974" cy="247516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92725" y="977801"/>
            <a:ext cx="3806875" cy="2721471"/>
          </a:xfrm>
          <a:prstGeom prst="roundRect">
            <a:avLst>
              <a:gd name="adj" fmla="val 3733"/>
            </a:avLst>
          </a:prstGeom>
          <a:solidFill>
            <a:srgbClr val="00D4FF">
              <a:alpha val="8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5038725" y="1123801"/>
            <a:ext cx="35851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Digital Twin?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38725" y="1355527"/>
            <a:ext cx="3585171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virtual replica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 physical building that mirrors its actual state, behavior, and performance using live sensor data.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038725" y="1913632"/>
            <a:ext cx="35851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38725" y="2145357"/>
            <a:ext cx="358517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Building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IoT sensors installed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38725" y="2373660"/>
            <a:ext cx="3585171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collect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real-time data (temperature, humidity, occupancy, energy use)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038725" y="2766864"/>
            <a:ext cx="3585171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analyzes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data for predictive simulation and optimization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38725" y="3160068"/>
            <a:ext cx="3585171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Control</a:t>
            </a:r>
            <a:pPr algn="l"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feeds decisions back to the building systems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44401" y="3800773"/>
            <a:ext cx="1987600" cy="1351955"/>
          </a:xfrm>
          <a:prstGeom prst="roundRect">
            <a:avLst>
              <a:gd name="adj" fmla="val 7515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44401" y="3810298"/>
            <a:ext cx="1987600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1351" y="3921323"/>
            <a:ext cx="17683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Sensors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71351" y="4121348"/>
            <a:ext cx="1768373" cy="891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devices embedded in buildings that collect data 24/7: temperature, motion, air quality, energy consumption, structural stress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533501" y="3800773"/>
            <a:ext cx="1987748" cy="1351955"/>
          </a:xfrm>
          <a:prstGeom prst="roundRect">
            <a:avLst>
              <a:gd name="adj" fmla="val 7515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2533501" y="3810298"/>
            <a:ext cx="1987748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60452" y="3921323"/>
            <a:ext cx="17685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Predictive Analysis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660452" y="4283273"/>
            <a:ext cx="1768525" cy="74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processes sensor data to predict failures, optimize energy usage, and recommend maintenance before problems occur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622750" y="3800773"/>
            <a:ext cx="1987600" cy="1351955"/>
          </a:xfrm>
          <a:prstGeom prst="roundRect">
            <a:avLst>
              <a:gd name="adj" fmla="val 7515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4622750" y="3810298"/>
            <a:ext cx="1987600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49701" y="3921323"/>
            <a:ext cx="17683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 + Digital Twin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749701" y="4121348"/>
            <a:ext cx="1768373" cy="594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BIM model becomes a living digital twin — from design tool to lifetime building management system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711851" y="3800773"/>
            <a:ext cx="1987748" cy="1351955"/>
          </a:xfrm>
          <a:prstGeom prst="roundRect">
            <a:avLst>
              <a:gd name="adj" fmla="val 7515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6711851" y="3810298"/>
            <a:ext cx="1987748" cy="0"/>
          </a:xfrm>
          <a:prstGeom prst="line">
            <a:avLst/>
          </a:prstGeom>
          <a:noFill/>
          <a:ln w="19050">
            <a:solidFill>
              <a:srgbClr val="00D4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38801" y="3921323"/>
            <a:ext cx="17685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Vision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8801" y="4121348"/>
            <a:ext cx="1768525" cy="74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Cowork plugin for architects — design with natural language, manage as digital twins, full lifecycle from concept to operations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355550"/>
            <a:ext cx="842030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30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Guide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44401" y="819001"/>
            <a:ext cx="84203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 Need to Get Started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44401" y="1145977"/>
            <a:ext cx="4846439" cy="1195536"/>
          </a:xfrm>
          <a:prstGeom prst="roundRect">
            <a:avLst>
              <a:gd name="adj" fmla="val 8498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1351" y="1247477"/>
            <a:ext cx="46843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Prerequisites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71351" y="1479203"/>
            <a:ext cx="468438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10/11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Revit only runs on Windows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1351" y="1669405"/>
            <a:ext cx="468438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Autodesk Revit 2026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Free trial at autodesk.com/revit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1351" y="1859607"/>
            <a:ext cx="468438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18+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the MCP server plugin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1351" y="2049810"/>
            <a:ext cx="468438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Code/Cowork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Anthropic's AI interface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4401" y="2443014"/>
            <a:ext cx="4846439" cy="939403"/>
          </a:xfrm>
          <a:prstGeom prst="roundRect">
            <a:avLst>
              <a:gd name="adj" fmla="val 10815"/>
            </a:avLst>
          </a:prstGeom>
          <a:solidFill>
            <a:srgbClr val="0D1117"/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0401" y="2589014"/>
            <a:ext cx="464552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git clone https://github.com/Demolinator/Revit-MCP-CS.git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0401" y="2804815"/>
            <a:ext cx="464552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cd Revit-MCP-CS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401" y="3020616"/>
            <a:ext cx="464552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00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npm install &amp;&amp; npm run setup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4401" y="3483918"/>
            <a:ext cx="4846439" cy="1043732"/>
          </a:xfrm>
          <a:prstGeom prst="roundRect">
            <a:avLst>
              <a:gd name="adj" fmla="val 9734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71351" y="3585418"/>
            <a:ext cx="46843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Start Using: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351" y="3817144"/>
            <a:ext cx="468438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 Revit 2026 and create/open a project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1351" y="4020145"/>
            <a:ext cx="468438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 to </a:t>
            </a:r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Add-Ins</a:t>
            </a:r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tab, click </a:t>
            </a:r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Switch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1351" y="4223147"/>
            <a:ext cx="468438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 Claude Code/Cowork — ready to design!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68541" y="1145977"/>
            <a:ext cx="3231059" cy="1557784"/>
          </a:xfrm>
          <a:prstGeom prst="roundRect">
            <a:avLst>
              <a:gd name="adj" fmla="val 6522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614541" y="1291977"/>
            <a:ext cx="29978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Yourself!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614541" y="1542752"/>
            <a:ext cx="299783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github.com/Demolinator/Revit-MCP-CS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14541" y="1745754"/>
            <a:ext cx="299783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setup guide with troubleshooting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14541" y="1948755"/>
            <a:ext cx="299783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pre-configured Revit commands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14541" y="2151757"/>
            <a:ext cx="299783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out of the box with Revit 2026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14541" y="2354759"/>
            <a:ext cx="299783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for architects — no coding needed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68541" y="2805261"/>
            <a:ext cx="3231059" cy="1335137"/>
          </a:xfrm>
          <a:prstGeom prst="roundRect">
            <a:avLst>
              <a:gd name="adj" fmla="val 7610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595491" y="2906762"/>
            <a:ext cx="30367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Notes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595491" y="3138488"/>
            <a:ext cx="3036701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Revit 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must be open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commands to work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95491" y="3493591"/>
            <a:ext cx="3036701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MCP Switch 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toggle ON (not double-click)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95491" y="3848695"/>
            <a:ext cx="303670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script handles all config automatically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5821" y="974824"/>
            <a:ext cx="4572357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500"/>
              </a:spcAft>
              <a:buNone/>
            </a:pPr>
            <a:r>
              <a:rPr lang="en-US" sz="4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2330648" y="1997125"/>
            <a:ext cx="4482703" cy="1066651"/>
          </a:xfrm>
          <a:prstGeom prst="roundRect">
            <a:avLst>
              <a:gd name="adj" fmla="val 11906"/>
            </a:avLst>
          </a:prstGeom>
          <a:solidFill>
            <a:srgbClr val="00D4FF">
              <a:alpha val="10000"/>
            </a:srgbClr>
          </a:solidFill>
          <a:ln w="19050">
            <a:solidFill>
              <a:srgbClr val="00D4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823362" y="2219325"/>
            <a:ext cx="34972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Talal Ahmed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823362" y="2651075"/>
            <a:ext cx="34972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Mentored by Sir Zia Khan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83050" y="3266926"/>
            <a:ext cx="1777901" cy="38100"/>
          </a:xfrm>
          <a:prstGeom prst="roundRect">
            <a:avLst>
              <a:gd name="adj" fmla="val 66667"/>
            </a:avLst>
          </a:prstGeom>
          <a:solidFill>
            <a:srgbClr val="00D4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285821" y="3482727"/>
            <a:ext cx="45723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Phone: 0346-2078906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5821" y="3711327"/>
            <a:ext cx="45723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github.com/Demolinator/Revit-MCP-CS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5821" y="3939927"/>
            <a:ext cx="45723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Email: talalahmed0098@gmail.com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Buildings Using Natural Language - Revit MCP</dc:title>
  <dc:subject>Connecting Claude Code AI to Autodesk Revit 2026 via MCP</dc:subject>
  <dc:creator>Talal Ahmed</dc:creator>
  <cp:lastModifiedBy>Talal Ahmed</cp:lastModifiedBy>
  <cp:revision>1</cp:revision>
  <dcterms:created xsi:type="dcterms:W3CDTF">2026-02-14T08:48:46Z</dcterms:created>
  <dcterms:modified xsi:type="dcterms:W3CDTF">2026-02-14T08:48:46Z</dcterms:modified>
</cp:coreProperties>
</file>